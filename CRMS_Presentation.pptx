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411480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0F2FE"/>
                </a:solidFill>
              </a:defRPr>
            </a:pPr>
            <a:r>
              <a:t>ENTERPRISE BANKING CREDIT RISK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COLLECTION &amp; RECOVERY</a:t>
            </a:r>
            <a:br/>
            <a:r>
              <a:t>MANAGEMENT SYSTEM (CRMS)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Modernisasi Sistem Penagihan &amp; Pemulihan Kredit: 6 Pilar Ekosistem, Pipeline ETL Terintegrasi, Decision Scoring &amp; Workbench Lapangan mCollect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134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PORTFOLIO BANKING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KPR, KMK, KTA, CC &amp; Khusus Payroll ASN/PNS Pemprov DKI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4134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ARSITEKTUR &amp; ETL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5-Tier High Availability &amp; Incremental Upsert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4134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11480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KEPATUHAN REGULASI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POJK Tata Kelola TI &amp; UU Perlindungan Data Pribadi (PDP)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Bank DKI / Bank Jakarta • September 2026 • Versi 2.0 Enterprise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Tujuan Strategis &amp; Target KPI Modernisasi CRMS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Transformasi pengelolaan kredit bermasalah dari model manual reaktif menjadi sistem cerdas berbasis data terotomasi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2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91640"/>
            <a:ext cx="229514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+25%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Cure Rate Portofolio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Peningkatan efektivitas pelunasan DPD 1-30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91640"/>
            <a:ext cx="229514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-35%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Roll Rate ke NPL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Pencegahan dini akun menunggak bergulir ke DPD 90+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91640"/>
            <a:ext cx="229514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-40%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Biaya Operasional (Opex)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Efisiensi kanal digital vs penugasan fisik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691640"/>
            <a:ext cx="229514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E11D48"/>
                </a:solidFill>
              </a:defRPr>
            </a:pPr>
            <a:r>
              <a:t>&lt; 5 Menit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SLA Instant Takeout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Pencabutan otomatis antrean pasca bayar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3413455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2971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11D48"/>
                </a:solidFill>
              </a:defRPr>
            </a:pPr>
            <a:r>
              <a:t>TANTANGAN PORTOFOLIO PERBANKAN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3047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475569"/>
                </a:solidFill>
              </a:defRPr>
            </a:pPr>
            <a:r>
              <a:t>• Tingginya eksposur multi-fasilitas (KPR, KMK, KTA, Kartu Kredit).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Karakteristik khusus segmen Payroll ASN/PNS Pemprov DKI (ritme rapel Tukin).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Risiko keterlambatan koordinasi antar tim (Desk vs Field Collector).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Biaya penagihan fisik manual yang membebani margin bank.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34640"/>
            <a:ext cx="3413455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971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SOLUSI TERINTEGRASI CRMS MODERN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37560"/>
            <a:ext cx="3047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475569"/>
                </a:solidFill>
              </a:defRPr>
            </a:pPr>
            <a:r>
              <a:t>• Decision Engine 0-1000 Poin &amp; Action Path Grade 1-8 otomatis.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Pre-Delinquency DPD 0 memantau kecukupan saldo autodebet CASA.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Workbench mCollect PWA &amp; Kuitansi Digital PIS ber-GPS.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GeoTracker Live Map DKI Jakarta &amp; deteksi anomali waktu diam.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834640"/>
            <a:ext cx="3413455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2971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KEPATUHAN TATA KELOLA &amp; REGULASI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37560"/>
            <a:ext cx="3047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475569"/>
                </a:solidFill>
              </a:defRPr>
            </a:pPr>
            <a:r>
              <a:t>• Penerapan UU PDP No. 27/2022: NIK &amp; data kontak di-masking.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POJK No. 11/POJK.03/2016: Audit trail penagihan tersimpan abadi 5-10 thn.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Pola ETL Incremental Upsert menjaga keutuhan Foreign Key database.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Dual-Control Maker-Checker pada persetujuan diskon settlement.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ARSITEKTUR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Diagram Level-0: Ekosistem 6 Pilar Siklus Hidup Pinjaman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Posisi strategis CRMS sebagai surrounding intelligent layer yang terhubung mulus dengan pilar perbankan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E0F2FE"/>
                </a:solidFill>
              </a:defRPr>
            </a:pPr>
            <a:r>
              <a:t>Slide 3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PORTFOLIO &amp; OPEN API INTEGRATION HUB  •  80+ Enterprise Plug &amp; Play APIs (RESTful / ISO-8583 / BI-FAST / Webhooks)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700784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1. CUSTOMER ACQUISITION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CAS / LOS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Party &amp; CIF Master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Dukcapil Verification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SLIK OJK Scoring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Loan Approval &amp; Disbursal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2377440"/>
            <a:ext cx="1700784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0F2FE"/>
                </a:solidFill>
              </a:defRPr>
            </a:pPr>
            <a:r>
              <a:t>2. LOAN MANAGEMENT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LMS / Core Banking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Servicing Post-Disbursal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Billing &amp; Interest Accrual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CASA Autodebet Engine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Payoff &amp; Termination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377440"/>
            <a:ext cx="1700784" cy="384048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3. COLLECTIONS &amp; RECOVERY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★ CRMS CORE FOCUS ★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PDM Early Warning DPD 0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Scoring Engine (0-1000)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Action Path Matrix 1-8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Settlement 6-Stage Tranches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mCollect PWA &amp; GeoTracker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377440"/>
            <a:ext cx="1700784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4. ENTERPRISE CONTENT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ECM / DMS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Digital PK &amp; Notarial Deeds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APHT &amp; SKMHT Binding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Surat Peringatan (SP 1-3)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Court Filings &amp; Risalah Lelang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2377440"/>
            <a:ext cx="1700784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5. COLLATERAL MGMT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CMS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Asset Register (SHM/BPKB)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KJPP FMV &amp; Liquidation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Custody Vault Management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Stockyard Repo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377440"/>
            <a:ext cx="1700784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246888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E11D48"/>
                </a:solidFill>
              </a:defRPr>
            </a:pPr>
            <a:r>
              <a:t>6. DIGITAL FRONT END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Omnichannel DFE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Web Operations Portal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mCollect Field PWA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WhatsApp Cloud Gateway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Smart IVR Robo-Call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• Self-Service VA/QRIS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Arsitektur Enterprise 5-Tier (High-Level Topology)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Pemisahan lapisan yang ketat untuk skalabilitas, keamanan perbankan, dan isolasi kegagalan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4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09928"/>
            <a:ext cx="2926080" cy="62179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TIER 1: PRESENTATION &amp; CLIENT TOUCHPOINTS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73352"/>
            <a:ext cx="7406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Web Operations SPA (React 18, Vite, Tailwind CSS) - Overdue Matrix, Customer 360, VIP Desk.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mCollect Field Workbench (Mobile PWA) - Pencatatan bayar, kuitansi digital PIS, kalkulator Rule 78.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GeoTracker Live Command Center - Peta Vektor Jakarta, route playback animasi, idle anomaly alert.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Supervisory Console - Balanced Round-Robin, alokasi kapasitas kolektor, delegasi wewenang OOO.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642616"/>
            <a:ext cx="2926080" cy="62179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TIER 2: API GATEWAY &amp; SECURITY ROUTING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06040"/>
            <a:ext cx="7406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Nginx Reverse Proxy &amp; SSL Offloader (HTTPS Port 3030 / WSS WebSocket / TLS 1.3).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Security Middleware: JWT token verification, RBAC Guard (ADMIN, AR_HEAD, COLLECTOR, SUPERVISOR).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Rate Limiting &amp; DoS Mitigation, Anti-Tamper Client Tracing, and JSON Structured Audit Logger.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6557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575304"/>
            <a:ext cx="2926080" cy="62179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TIER 3: CORE DOMAIN APPLICATION SERVICES (GOLANG GIN ENGINE :8030)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38728"/>
            <a:ext cx="7406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Decision Engine: Scoring multi-faktor 0-1000 poin, Action Path Grade 1-8, router Champion vs Challenger.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Pre-Delinquency (PDM): Evaluasi saldo CASA H-3..H-0, sinkronisasi kalender penggajian &amp; Tukin ASN Pemprov DKI.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Settlement Engine: 6-Stage lifecycle state machine, multi-tranches schedule, approval matrix berjenjang.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Supervisory, Telemetry &amp; Legal/Repo Managers: Pelacakan GPS kolektor, litigasi hukum &amp; lelang KPKNL.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9826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507992"/>
            <a:ext cx="2926080" cy="62179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TIER 4: PERSISTENCE &amp; DATA GOVERNANCE LAYER (POSTGRESQL 14+/18+ `crms_db`)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71416"/>
            <a:ext cx="7406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18 Entitas Relasional Ternormalisasi (Master Kategori A, Engine Kategori B, Native Kategori C).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Connection Pool Optimization (MaxOpen: 50, MaxIdle: 10, Lifetime: 1h), Indeks B-Tree berkecepatan tinggi.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Partisi data historis telemetri GPS 90 hari &amp; retensi dokumen audit finansial 5-10 tahun.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3095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440680"/>
            <a:ext cx="2926080" cy="62179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TIER 5: EXTERNAL ENTERPRISE INTEGRATION BACKBONE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04104"/>
            <a:ext cx="7406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Core Banking (LMS/CBS): EOD Batch 02:00 WIB &amp; Real-Time Loan Ledger API.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Payment Switch: BI-FAST, Bank Virtual Account (VA), dan QRIS Dinamis 24 Jam.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Omnichannel: WhatsApp Business Cloud API / Fonnte, Telecom Smart IVR PSTN Dialer.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Lembaga Eksternal: Dukcapil NIK KTP, Balai Lelang Negara KPKNL, Panel KJPP Independen.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ARSITEKTUR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Diagram Level-1: End-to-End ETL Pipeline &amp; Staging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Aliran data dari sistem sumber perbankan melalui tahapan ekstraksi, pembersihan, pengayaan, hingga antrean kerja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E0F2FE"/>
                </a:solidFill>
              </a:defRPr>
            </a:pPr>
            <a:r>
              <a:t>Slide 5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06654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883664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1. SOURCE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• Customer Acquisition (CAS)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Loan Management (LMS)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Collateral Mgmt (CMS)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Payment Switch (VA/BI-FAST)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91640"/>
            <a:ext cx="206654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9231" y="1828800"/>
            <a:ext cx="1883664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0F2FE"/>
                </a:solidFill>
              </a:defRPr>
            </a:pPr>
            <a:r>
              <a:t>2. INGESTION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1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• Nightly EOD Batch (02:00 WIB)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SFTP / mTLS REST Extractor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Real-Time CDC Webhooks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Payment Event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91640"/>
            <a:ext cx="206654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4" y="1828800"/>
            <a:ext cx="1883664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3. STAGING &amp; CLEANSING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• Temporary Schemas (`stg_*`)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Schema Validation &amp; Typing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UU PDP NIK Masking Guard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Deduplikasi &amp; Anomaly 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91640"/>
            <a:ext cx="206654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1828800"/>
            <a:ext cx="1883664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4.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• Customer 360 Aggregator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Combo Case Stamping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PDM CASA Evaluator (DPD 0)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Scoring Engine (0-1000 Poin)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Action Path Router (Grade 1-8)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91640"/>
            <a:ext cx="206654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828800"/>
            <a:ext cx="1883664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5. PERSISTENCE &amp; QUEUES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• Incremental Upsert ke `crms_db`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Queue DPD 0 PDM Auto-Remind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Queue DPD 1-14 Digital Blaster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Queue DPD 4-30 Telephony Desk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Queue DPD 14-90 mCollect Field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Queue DPD 90+ Legal &amp; Auction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KEBIJAKAN TATA KELOLA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Kebijakan 1: Mengapa Basis Data Operasional CRMS Tidak Boleh Di-Truncate?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Analisis risiko integritas referensial foreign key dan kepatuhan audit regulasi perbankan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6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6858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11D48"/>
                </a:solidFill>
              </a:defRPr>
            </a:pPr>
            <a:r>
              <a:t>PERINGATAN KRUSIAL: TRUNCATE PADA TABEL OPERASIONAL DAPAT MEMUSNAHKAN DATA BUKTI AUDIT BANK!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Tabel `customers` dan `agreements` adalah parent table yang mengikat seluruh tabel transaksi CRMS. Perintah TRUNCATE akan di-reject atau jika CASCADE akan menghapus seluruh data anak.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34134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11D48"/>
                </a:solidFill>
              </a:defRPr>
            </a:pPr>
            <a:r>
              <a:t>1. Kendala Foreign Key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47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Tabel `customers` &amp; `agreements` menjadi referensi FK bagi: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- `collection_activities` (log penagihan)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- `payment_receipt_slips` (kuitansi resmi PIS)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- `settlement_proposals` &amp; `tranches`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- `legal_cases` &amp; `repossession_cases`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Perintah TRUNCATE agreements akan ditolak keras oleh PostgreSQL: ERROR: cannot truncate table referenced in FK.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Jika dipaksa TRUNCATE ... CASCADE, maka seluruh bukti kuitansi bayar dan histori hukum MUSNAH TERHAPUS!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23160"/>
            <a:ext cx="34134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56032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2. Kepatuhan Regulasi POJK &amp; UU PDP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3047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POJK No. 11/POJK.03/2016 mewajibkan bank menyimpan jejak audit aktivitas kredit &amp; penagihan minimal 5-10 tahun.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UU PDP No. 27/2022 mengatur akuntabilitas dan integritas rekaman riwayat data finansial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Data transaksi penagihan dan kuitansi pembayaran merupakan dokumen alat bukti sah dalam sengketa perdata hukum.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Truncate fisik berkala melanggar tata kelola data perbankan yang sehat (Good Corporate Governance).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41345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256032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3. Solusi Standar: Incremental Upsert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047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ETL harian menggunakan pola PostgreSQL: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INSERT INTO agreements (...) VALUES (...)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  ON CONFLICT (agreement_no) DO UPDATE SET...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Data baru di-insert, data berubah di-update in-place, data tidak berubah dibiarkan utuh.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Staging Area (`stg_*`) boleh di-truncate per malam untuk proses cleansing sebelum di-upsert ke operational.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Rekening lunas disinkronkan via soft sync (status PAID_OFF/CLOSED), tanpa hard delete.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KEBIJAKAN TATA KELOLA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Kebijakan 2: Mengapa Seluruh Fasilitas Kredit Aktif (Termasuk DPD 0) Wajib Ditransfer?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Strategi proaktif pencegahan kredit macet dan pengawasan eksposur lintas fasilitas dalam Customer 360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7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1. PRE-DELINQUENCY EARLY WARNING (DPD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Pencegahan Sebelum Jatuh Tempo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Paradigma CRMS modern berorientasi proaktif preventif, bukan pasif reaktif.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Modul PDM mengawasi rekening pada jendela H-3 s.d H-0 sebelum jatuh tempo.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Pengecekan Saldo CASA Autodebet: API internal memeriksa apakah rekening tabungan nasabah mencukupi.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Kalender Gaji &amp; Tukin ASN Pemprov DKI: Menyelaraskan tanggal notifikasi dengan siklus pencairan payroll Pemprov DKI (tanggal 25 s.d akhir bulan).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Gentle Auto-Reminder: Mengirimkan pengingat ramah via WhatsApp sebelum timbul denda keterlambatan.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2. UNIFIED CUSTOMER 360° &amp; CROSS-LIABILITY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Visibilitas Total Portofolio Debitur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Nasabah modern kerap memiliki multi-fasilitas (KPR, KMK, KTA, Kartu Kredit).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Saat debitur menunggak pada 1 pinjaman (misal KTA DPD 18), kolektor WAJIB melihat seluruh rekening debitur lainnya di bank.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Bargaining Power: Agunan sertifikat SHM pada fasilitas KPR yang berstatus LANCAR (DPD 0) dapat digunakan sebagai instrumen negosiasi pelunasan.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Mendeteksi risiko Contagion Default: Kegagalan bayar merambat dari produk unsecured ke produk beragun properti.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3. FIRST PAYMENT DEFAULT (FPD)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Mitigasi Risiko Fraud Awal Pinjaman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Fasilitas kredit baru yang baru dicairkan dari CAS ke LMS langsung dipantau intensif pada angsuran ke 1 s.d 3.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Mendeteksi tanda-tanda gagal bayar dini (saldo kosong, nomor tidak aktif) untuk mitigasi origination fraud.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Data yang Dikecualikan dari Transfer Rutin: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Rekening yang sudah lunas bertahun-tahun (arsip di Data Warehouse).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Aplikasi kredit yang ditolak/dibatalkan di tahap Customer Acquisition (CAS).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TATA KELOLA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Tata Kelola &amp; Proteksi Data Inputan Operasional CRMS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5 Prinsip Integritas, Immutabilitas, dan Ketahanan Audit Data yang Dihasilkan Langsung di CRMS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8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066543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883664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1. Append-Only Immutability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8836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Log &amp; Bukti Abadi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Tabel `collection_activities` dan `payment_receipt_slips` bersifat abadi.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Tidak ada fungsi UPDATE atau DELETE pada level API operasional.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Mencatat identitas petugas (`performed_by`), tamper-proof server timestamp, dan koordinat GPS.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Kuitansi PIS memiliki nomor slip acak unik untuk mencegah penggelapan setoran tunai.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91640"/>
            <a:ext cx="2066543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9231" y="1828800"/>
            <a:ext cx="1883664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2. State Machine &amp; Dual-Control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1" y="2240280"/>
            <a:ext cx="18836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Maker-Checker Matrix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Persetujuan diskon settlement diatur bertingkat sesuai limit wewenang (BM, AR Head, Direksi).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Alur perkara hukum (6 stages) dan lelang (8 stages) dikunci validasi dokumen sah (somasi, risalah lelang KPKNL, appraisal KJPP).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91640"/>
            <a:ext cx="2066543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4" y="1828800"/>
            <a:ext cx="1883664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3. Isolasi dari Timpaan Batch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240280"/>
            <a:ext cx="18836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Non-Destructive Overwrite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Batch ETL malam hari hanya mengupdate saldo pinjaman dan tenor di tabel `agreements`.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ETL TIDAK PERNAH menimpa catatan negosiasi kolektor (`notes`), janji bayar (`ptp_date`), kuitansi PIS, atau usulan settlement.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91640"/>
            <a:ext cx="2066543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1828800"/>
            <a:ext cx="1883664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E11D48"/>
                </a:solidFill>
              </a:defRPr>
            </a:pPr>
            <a:r>
              <a:t>4. Real-Time Reverse Webhook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240280"/>
            <a:ext cx="18836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Instant Clearance &lt; 5 Menit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Setoran di mCollect atau Virtual Account langsung memicu webhook ke Core Banking.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Takeout Task seketika mencabut akun dari daftar kunjungan kolektor untuk mencegah overcollection.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91640"/>
            <a:ext cx="2066543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8048" y="1828800"/>
            <a:ext cx="1883664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5. Partisi &amp; Siklus Retensi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240280"/>
            <a:ext cx="18836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Kepatuhan Regulasi POJK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Telemetri GPS harian disimpan aktif 90 hari, lalu otomatis diarsipkan ke tabel partisi.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Data transaksi kredit dan audit trail dipertahankan 5 s.d 10 tahun sesuai POJK &amp; UU PDP.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KAMUS DATA &amp; SKEMA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Taksonomi Basis Data: Katalog 18 Entitas Relasional CRMS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Klasifikasi tabel berdasarkan asal sistem sumber, peruntukan fungsional, dan entitas pengelola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9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KATEGORI A: REPLIKASI MASTER EKSTERNAL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2 Tabel Ingestion dari Core Systems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• customers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Master Debitur (CIF, NIK masked, kontak, domisili, ASN Pemprov DKI, status VIP). Difeeding dari CAS/LOS &amp; LMS/CBS.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• agreements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Master Rekening Kredit (No Kontrak, LOB KPR/KMK/KTA/KUR/CC, plafon, angsuran, tenor, agunan SHM/BPKB, cabang). Difeeding dari LMS/CBS.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KATEGORI B: TRANSFORMATION &amp; ENGINE CRMS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3 Tabel Pembangkit Aturan &amp; Evaluasi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• pre_delinquency_accounts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Akun DPD 0 pengawasan dini H-3..H-0 hasil evaluasi saldo CASA autodebet &amp; kalender Tukin ASN Pemprov DKI.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• overdue_accounts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Antrean penagihan DPD 1+: skor risiko (0-1000), Action Path Grade 1-8, penugasan PIC &amp; kanal rekomendasi.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• decision_rules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Tabel konfigurasi matriks strategi risiko (Champion vs Challenger) yang dikelola oleh Risk Administrator CRMS.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KATEGORI C: NATIVE OPERASIONAL CRMS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13 Tabel Transaksional Dikelola di CRMS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collection_activities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Log rekam jejak histori penagihan (Append-only audit trail).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settlement_proposals &amp; tranches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Usulan diskon pelunasan 6-stage &amp; jadwal termin 1-6 cicilan.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skip_tracing_cases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Investigasi pelacakan kontak debitur yang hilang kontak.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legal_cases &amp; repossession_cases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Alur litigasi pengadilan (6 tahap) &amp; lelang KPKNL (8 tahap).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payment_receipt_slips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Kuitansi Pembayaran Digital Resmi (PIS) mCollect ber-GPS.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collector_geo_locations &amp; route_points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Telemetri GPS real-time &amp; titik rute perjalanan harian.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collection_agencies &amp; authority_delegations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Mitra agensi penagih pihak ketiga &amp; delegasi wewenang OOO.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• users &amp; global_parameters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Otentikasi pengguna RBAC &amp; parameter dinamis perbankan.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SKEMA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Entity Relationship Model (ERD) Enterprise CRMS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Relasi antar entitas master data, mesin evaluasi risiko, alur kerja pemulihan, dan telemetri lapangan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E0F2FE"/>
                </a:solidFill>
              </a:defRPr>
            </a:pPr>
            <a:r>
              <a:t>Slide 10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55648"/>
            <a:ext cx="329184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ENTITAS MASTER &amp;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6858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CUSTOMERS (id, customer_no UK, name, phone, email, address, occupation, is_vip)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||--o{ AGREEMENTS (id, agreement_no UK, customer_id FK, lob, asset_brand, plate_no, total_financing, installment, tenor, branch, combo_group)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  ||--o{ PRE_DELINQUENCY_ACCOUNTS (due_date, installment, casa_balance, salary_date, reminder_status)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898648"/>
            <a:ext cx="329184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ENTITAS EVALUASI &amp; PENUGASAN (ENGINE)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62072"/>
            <a:ext cx="6858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AGREEMENTS ||--|| OVERDUE_ACCOUNTS (agreement_no UK FK, dpd, overdue_amount, current_bucket, risk_score, risk_level, strategy_group, action_path, assigned_pic, recovery_stage, ptp_date)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DECISION_RULES (strategy_group, risk_category, action_path, bucket, assigned_pic, handling_type)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041648"/>
            <a:ext cx="329184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ENTITAS TRANSAKSI &amp; PEMULIHAN (REMEDIAL)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05072"/>
            <a:ext cx="6858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OVERDUE_ACCOUNTS ||--o{ COLLECTION_ACTIVITIES (channel_type, performed_by, contact_status, result_code, ptp_date, geo_lat, geo_lng, notes)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AGREEMENTS ||--o{ SETTLEMENT_PROPOSALS ||--o{ SETTLEMENT_TRANCHES (tranche_no, due_date, amount, payment_method, status)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AGREEMENTS ||--o{ LEGAL_CASES (6 Stages: Somasi, Lawyer, Dokumen, Sidang PN, Audit, Putusan)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AGREEMENTS ||--o{ REPOSSESSION_CASES (8 Stages: Marking, Tarik, Stockyard, KJPP, Lelang KPKNL, Sold)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AGREEMENTS ||--o{ SKIP_TRACING_CASES (tracer_pic, tracing_status, new_phone, new_address, source)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184648"/>
            <a:ext cx="329184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0F2FE"/>
                </a:solidFill>
              </a:defRPr>
            </a:pPr>
            <a:r>
              <a:t>ENTITAS LAPANGAN, SUPERVISORY &amp; KEAMANAN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148072"/>
            <a:ext cx="6858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E2E8F0"/>
                </a:solidFill>
              </a:defRPr>
            </a:pPr>
            <a:r>
              <a:t>PAYMENT_RECEIPT_SLIPS (receipt_no UK, amount_paid, payment_method, collector, geotag_lat, geotag_lng, whatsapp_sent)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COLLECTOR_GEO_LOCATIONS ||--o{ COLLECTOR_ROUTE_POINTS (sequence_order, lat, lng, activity_type, speed_kmh, duration)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COLLECTION_AGENCIES (agency_code UK, active_collectors, recovery_rate, commission_rate, status)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AUTHORITY_DELEGATIONS (delegator, delegate, start_date, end_date, approval_limit, reason)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USERS (username UK, password bcrypt, full_name, email, role, is_active) &amp; GLOBAL_PARAMETERS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1: Unified Customer 360° View &amp; Guided Dialogue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Tampilan terpadu profil nasabah, eksposur lintas produk, riwayat kontak, dan skrip dialog terpandu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11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Single Customer View (CIF)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Konsolidasi data debitur dalam satu nomor CIF tunggal.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Profil identitas terverifikasi dengan NIK KTP di-masking (UU PDP).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Nomor kontak ponsel, WhatsApp, email, dan alamat domisili.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Status kepegawaian (PNS Pemprov DKI, BUMD, BUMN, Swasta) &amp; indikator nasabah prioritas (VIP).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Cross-Facility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Agregasi seluruh fasilitas kredit nasabah di bank (KPR, KMK, KTA, CC).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Identifikasi rekening lancar vs rekening overdue secara berdampingan.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Cross-Collateral Leverage: Agunan SHM pada pinjaman lancar dapat menjadi daya tawar negosiasi tunggakan.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Deteksi Combo Grouping: Combo 1 (Properti KPR+KPA), Combo 2 (Unsecured KTA+CC).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Omnichannel Interaction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Linimasa kronologis seluruh interaksi penagihan yang pernah dilakukan.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Rekam jejak chat WhatsApp bot, panggilan IVR robotik, dan telepon desk.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Laporan berita acara kunjungan fisik kolektor lapangan mCollect ber-GPS.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Histori komitmen janji bayar (PTP Broken vs PTP Kept) &amp; eskalasi tahap pemulihan.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Script-Driven Dynamic Dialogue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Skrip percakapan terpandu yang otomatis berubah berdasarkan persona debitur.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Menyesuaikan tingkat risiko (Low / Medium / High / VIP) dan histori komitmen.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Menyajikan talking points resmi bank, opsi restrukturisasi, dan skema diskon.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Mencegah intimidasi kolektor dan menjamin kepatuhan pada etika penagihan OJK.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2: Decision Engine &amp; Scoring Model (0–1000 Poin)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Klasifikasi risiko multi-faktor, penugasan antrean otomatis Action Path Grade 1-8 &amp; A/B testing Champion-Challenger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12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83080"/>
            <a:ext cx="239572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LOW RISK (Score &gt; 750)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39572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 Path 1 - 2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Otomasi digital penuh (WhatsApp Bot Blaster, Smart IVR Robo-Call). Tidak perlu kunjungan fisik.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783080"/>
            <a:ext cx="239572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MEDIUM RISK (Score 500-750)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48840"/>
            <a:ext cx="239572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 Path 3 - 4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Sentralisasi Desk Telephony Head Office, penelusuran janji bayar, negosiasi restrukturisasi.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783080"/>
            <a:ext cx="239572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HIGH RISK (Score &lt; 500)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148840"/>
            <a:ext cx="239572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 Path 5 - 8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Eskalasi hybrid: Desk + Kunjungan langsung Field Officer mCollect &amp; penanganan Senior Remedial.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97696" y="1783080"/>
            <a:ext cx="239572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E11D48"/>
                </a:solidFill>
              </a:defRPr>
            </a:pPr>
            <a:r>
              <a:t>VIP PRIORITY (Eksklusif)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148840"/>
            <a:ext cx="239572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Action Path VIP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Ditangani eksklusif di bawah kendali AR Head / Executive Desk untuk menjaga reputasi nasabah.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840480"/>
            <a:ext cx="29260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CHAMPION VS CHALLENGER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Pemisahan Alokasi Portofolio: 80% akun dialokasikan ke strategi Champion teruji, 20% dialokasikan ke Challenger untuk pengujian hipotesis baru.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A/B Testing Kinerja Penagihan: Membandingkan Cure Rate dan Roll Rate antara strategi Champion dan Challenger secara real-time.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Promosi Otomatis: Jika strategi Challenger menghasilkan Cure Rate lebih tinggi, algoritma dapat dipromosikan menjadi Champion baru.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Simulasi Evaluasi Ulang: Endpoint API `/overdue-accounts/:id/reevaluate` memungkinkan simulasi dampak perubahan aturan scoring.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2375" y="370332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5255" y="3840480"/>
            <a:ext cx="29260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BOBOT SKORING MULTI-FAKTOR (0-1000)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5255" y="42062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Riwayat Pembayaran Masa Lalu (35%): Rekam jejak ketepatan waktu angsuran 12 bulan terakhir dan frekuensi broken PTP.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Days Past Due / DPD Berjalan (25%): Tingkat keterlambatan saat ini (Bucket 1-3, 4-7, ... &gt;150).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Rasio Kewajiban Finansial / DSR (20%): Besaran angsuran terhadap estimasi penghasilan bulanan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Tipe Fasilitas &amp; Agunan (10%): Kredit beragun properti SHM memiliki ketahanan risiko lebih tinggi daripada unsecured KTA/CC.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Profil Stabilitas Pekerjaan (10%): Status PNS Pemprov DKI Jakarta mendapatkan pengurang risiko karena kestabilan payroll daerah.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3: Pre-Delinquency Management (PDM - DPD 0 Early Warning)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Pengawasan proaktif sebelum tanggal jatuh tempo angsuran dan integrasi kalender penggajian/Tukin ASN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13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Jendela Pengawasan H-3 s.d H-0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Memantau seluruh fasilitas kredit lancar (DPD 0) pada periode H-3, H-2, H-1, dan H-0 jatuh tempo.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Tujuan: Mencegah akun tergelincir menjadi DPD 1 (keterlambatan hari pertama).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Menghindarkan nasabah dari beban denda keterlambatan sistemik dan penurunan skor kolektibilitas SLIK OJK.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Mereduksi beban antrean penagihan DPD 1-30 secara signifikan.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Pengecekan Saldo CASA Autodebet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Integrasi API internal ke Core Banking System untuk memverifikasi saldo rekening tabungan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Trigger Ketidakcukupan Saldo (`INSUFFICIENT_CASA`): Jika saldo tabungan &lt; nilai angsuran bulanan pada H-2.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Sistem secara otomatis memasukkan akun ke antrean PDM tanpa menunggu proses autodebet gagal di hari 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Memberikan jeda waktu bagi nasabah untuk mengisi saldo tabungan autodebetnya.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Kalender Gaji &amp; Tukin ASN Pemprov DKI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Fitur penanganan khusus portofolio perbankan daerah (PNS &amp; ASN Pemprov DKI Jakarta).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Sistem memetakan jadwal pembayaran Gaji Pokok (tanggal 25) dan pencairan Tunjangan Kinerja Daerah (Tukin).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Jika terjadi keterlambatan pencairan rapel Tukin dari Pemprov DKI, sistem otomatis memundurkan jadwal penagihan keras.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Mencegah ketegangan hubungan kemitraan antara bank dengan instansi kedinasan pemerintah daerah.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Gentle WhatsApp Auto-Reminder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Pengiriman pesan pengingat tagihan dengan nada bahasa yang sopan, santun, dan ramah (tanpa kesan menagih).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Pesan mencantumkan nomor rekening pinjaman, tanggal jatuh tempo, dan nominal kewajiban yang harus disediakan.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Dilengkapi tautan instan setor dana via BI-FAST, Virtual Account, atau QRIS dinamis.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Status pengingat tercatat di basis data: `PENDING`, `WA_SENT`, `ROBO_CALLED`, hingga `CURED`.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4: Settlement 6-Stage Lifecycle &amp; Multi-Tranches Schedule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Manajemen program kompromi dan diskon pelunasan kredit macet dengan persetujuan bertingkat berbasis batas wewenang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14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STAGE 1: INITIATE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Pengajuan Proposal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Permohonan diskon denda/bunga diajukan oleh Kolektor, Supervisor, atau Debitur.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5184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E0F2FE"/>
                </a:solidFill>
              </a:defRPr>
            </a:pPr>
            <a:r>
              <a:t>STAGE 2: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Multi-Tranches (1-6)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Pemecahan jadwal pembayaran ke dalam 1 s.d 6 termin cicilan terstruktur.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25696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STAGE 3: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Kalkulasi Netto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Perhitungan netto pelunasan, diskon denda (*waived penalty*), dan denda bunga.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7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E11D48"/>
                </a:solidFill>
              </a:defRPr>
            </a:pPr>
            <a:r>
              <a:t>STAGE 4: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Maker-Checker Matrix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Persetujuan komite berjenjang: BM, AR Head, hingga Direksi sesuai limit nominal.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STAGE 5: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Monitoring Setoran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Pemantauan realisasi setoran per termin melalui Virtual Account / QRIS.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691640"/>
            <a:ext cx="170078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57232" y="1783080"/>
            <a:ext cx="15544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STAGE 6: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212140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Pelunasan Tuntas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Penerbitan Surat Lunas Resmi, penghapusan denda sistemik, dan penutupan akun.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77639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114800"/>
            <a:ext cx="29260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MATRIKS BATAS WEWENANG PERSETUJUAN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Tier 1: Senior Collector (Diskon denda s.d Rp 5.000.000).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Tier 2: Branch Manager / Pemimpin Cabang (Diskon denda &amp; bunga s.d Rp 25.000.000).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Tier 3: AR Head &amp; Recovery Lead (Diskon tunggakan s.d Rp 100.000.000).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Tier 4: Komite Kredit &amp; Direksi (Diskon di atas Rp 100.000.000 atau pemotongan pokok).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Audit Trail: Setiap persetujuan mengunci username approver, stempel waktu, dan catatan komite.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2375" y="3977639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5255" y="4114800"/>
            <a:ext cx="2926080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FITUR PEMBAYARAN MULTI-TRANCHES (TERMIN)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5255" y="44805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Fleksibilitas Termin: Nasabah dapat mencicil nilai kompromi dalam 1 hingga 6 termin.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Jadwal Jatuh Tempo Otomatis: Setiap termin memiliki tanggal jatuh tempo dan nominal pasti.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Kuitansi PIS Per Termin: Pembayaran tiap termin menerbitkan kuitansi digital sah tersendiri.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Pencegahan Default Ulang: Jika termin ke-2 wanprestasi, status proposal ditandai OVERDUE dan penagihan reguler langsung diaktifkan kembali secara otomatis.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5: Supervisory Control, Capacity Planning &amp; OOO Delegation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Distribusi antrean kerja seimbang (*Balanced Round-Robin*), pendelegasian wewenang temporer, dan evaluasi agensi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15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Balanced Round-Robin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Optimalisasi Beban Kerja Harian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Distribusi antrean akun secara merata kepada kolektor aktif berdasarkan keahlian cabang dan bahasa daerah.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Kapasitas Beban Kerja Optimal: Sistem menetapkan batas optimal ~25 akun per kolektor per hari.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Indikator Status Kolektor: Membedakan visual `OPTIMAL` (&lt;25 akun), `NEARING CAPACITY` (25-30 akun), dan `OVERLOAD` (&gt;30 akun).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Mencegah penumpukan akun pada petugas tertentu dan meningkatkan produktivitas kunjungan.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Out of Office (OOO) Delegation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Pendelegasian Wewenang Sementara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Fitur pendelegasian saat pejabat pemutus (AR Head / BM) sedang cuti, sakit, atau dinas luar.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Pengalihan Wewenang Persetujuan: Menunjuk pejabat pengganti yang sah dengan menetapkan batas nominal approval limit.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Batas Waktu Otomatis: Pendelegasian aktif hanya pada rentang `start_date` s.d `end_date` yang ditentukan.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Kepatuhan Audit: Seluruh persetujuan diskon/settlement selama periode OOO mencatat keterangan 'Disetujui atas nama Delegator'.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External Agency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Manajemen Agensi Penagih Pihak Ketiga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Pendaftaran dan administrasi rekanan agensi penagihan eksternal profesional.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Pemantauan Legalitas: Pelacakan masa berlaku izin operasional dan nomor kontrak Perjanjian Kerjasama (PKS).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Pengawasan Kuota Akun: Membatasi alokasi akun yang diserahkan ke agensi eksternal.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Evaluasi SLA Kinerja: Mengukur persentase pemulihan tagihan (*Recovery Rate*) dan persentase komisi (*Commission Rate*).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6: mCollect Mobile Field Workbench (PWA) &amp; Digital PIS Slip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Aplikasi mobile kolektor lapangan untuk perekaman pembayaran tunai/transfer, kuitansi digital ber-GPS &amp; kalkulator Rule 78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16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Mobile-First PWA Responsive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Aplikasi web progresif (PWA) yang ringan, cepat, dan responsif pada berbagai layar smartphone.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Tanpa Instalasi Rumit: Dapat diakses langsung melalui browser mobile dengan otentikasi JWT aman.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Daftar Penugasan Harian: Menyajikan antrean kunjungan nasabah yang diurutkan berdasarkan jarak terdekat.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Informasi Agunan &amp; Debitur: Menampilkan foto agunan, data kontrak, dan catatan negosiasi sebelumnya.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Perekaman Pembayaran Lapangan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Pencatatan fleksibel metode setoran: Tunai (Cash), QRIS Dinamis, atau Virtual Account BI-FAST.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Validasi Geotagging Otomatis: Mengunci koordinat GPS lintang &amp; bujur tepat di lokasi serah terima pembayaran.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Integrasi Real-Time: Pembayaran yang direkam langsung memotong saldo tunggakan di server CRMS.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Anti-Penggelapan Setoran: Mengeliminasi risiko manipulasi setoran tunai oleh oknum kolektor lapangan.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Kuitansi Digital Resmi (PIS)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Penerbitan Kuitansi Pembayaran Digital Resmi (*Payment Information Slip / PIS*) secara instan.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Nomor Seri Slip Unik: Setiap slip memiliki kode acak unik berstandar perbankan yang tidak dapat diduplikasi.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Kirim Otomatis ke WhatsApp: Sistem seketika menembakkan bukti kuitansi berformat resmi ke WA debitur.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Tersimpan Abadi di Basis Data: Slip tersimpan pada tabel `payment_receipt_slips` sebagai alat bukti sah.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Kalkulator Pelunasan Rule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Simulator pelunasan dipercepat (*Foreclosure Payoff Simulator*) menggunakan metode bunga menurun Rule 78.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Kolektor dapat menghitung seketika di depan nasabah: sisa pokok kredit, diskon bunga masa depan, dan biaya penalti.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Memberikan transparansi hitungan finansial yang meyakinkan debitur untuk segera melunasi pinjamannya.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Mencetak rincian simulasi payoff langsung ke perangkat mobile.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Modul 7: GeoTracker Real-Time GPS Map &amp; Route Playback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Pusat komando pemantauan armada lapangan wilayah DKI Jakarta, pemutaran animasi rute &amp; deteksi anomali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E0F2FE"/>
                </a:solidFill>
              </a:defRPr>
            </a:pPr>
            <a:r>
              <a:t>Slide 17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134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04769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Live Jakarta Vector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Pemantauan Kolektor Real-Time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Peta vektor interaktif 5 wilayah DKI Jakarta (Pusat, Selatan, Barat, Timur, Utara).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Marker Status Kolektor: Membedakan visual `VISITING` (sedang di nasabah), `IN_TRANSIT` (di jalan), dan `IDLE` (diam).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Indikator Telemetri Lengkap: Menampilkan koordinat lintang/bujur, radius akurasi GPS (meter), dan sisa daya baterai HP.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Pembaruan Otomatis: Data ter-refresh secara real-time melalui heartbeat periodik dari aplikasi mCollect.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134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4769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Animated Route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Pemutaran Ulang Jejak Harian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Memutar ulang perjalanan harian kolektor secara animasi dari titik start kantor cabang hingga titik akhir.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Titik Singgah Kronologis: Menampilkan urutan titik kunjungan (*sequence order*), lokasi alamat debitur, dan jenis aktivitas.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Time &amp; Velocity Analytics: Menganalisis waktu tempuh antar lokasi, kecepatan rata-rata kendaraan (km/jam), dan durasi kunjungan.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Verifikasi Kehadiran Fisik: Memastikan petugas benar-benar mendatangi alamat rumah/kantor debitur.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4769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Idle 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Peringatan Anomali Waktu Diam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Deteksi otomatis jika kolektor terdiam (*idle*) di satu lokasi di luar titik nasabah melebihi ambang batas (&gt; 120 menit).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Sistem menyalakan flag peringatan anomali berwarna merah terang pada dashboard GeoTracker Command Center.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Mendeteksi indikasi ketidakdisiplinan petugas atau potensi penggunaan aplikasi GPS palsu (*fake GPS / spoofing*).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Mendukung Supervisor dalam melakukan audit integritas armada lapangan secara transparan.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8: Legal Recourse (6 Tahap) &amp; Eksekusi Agunan / Lelang KPKNL (8 Tahap)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Standarisasi alur penegakan hukum perdata perbankan dan prosedur pelelangan aset macet sesuai regulasi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18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65760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ALUR PENANGANAN HUKUM (6-STAGE LEGAL RECOURSE)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Tahap 1: Inisiasi Somasi: Penerbitan Surat Peringatan (SP 1-3) &amp; somasi hukum resmi bank.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2: Alokasi Kuasa Hukum: Penunjukan tim legal internal atau kantor advokat rekanan resmi.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3: Pengesahan Berkas: Verifikasi akta perjanjian kredit notariil, APHT, dan bukti tunggakan.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4: Persidangan PN: Pendaftaran gugatan sederhana / perdata di Pengadilan Negeri dan jadwal sidang.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5: Audit Trail Kepatuhan: Pencatatan berita acara mediasi, replik, duplik, dan pembuktian perkara.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6: Putusan / Perdamaian: Eksekusi putusan inkrah pengadilan atau pencabutan gugatan karena damai.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16916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5255" y="1828800"/>
            <a:ext cx="365760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EKSEKUSI AGUNAN &amp; LELANG KPKNL (8-STAGE REPO)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5255" y="22402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Tahap 1: Penandaan Agunan: Identifikasi fisik agunan (sertifikat SHM tanah atau BPKB kendaraan).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2: Inisiasi Repo: Penerbitan Surat Kuasa Penarikan Agunan sesuai UU Jaminan Fidusia.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3: Pengamanan &amp; Stockyard: Penarikan fisik aset dan penyimpanan aman di stockyard berizin.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4: Penunjukan KJPP: Penugasan Kantor Jasa Penilai Publik independen terdaftar OJK.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5: Valuasi Pasar &amp; Likuidasi: Penetapan Nilai Pasar Wajar (FMV) dan Nilai Likuidasi resmi agunan.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6: Pendaftaran Lelang KPKNL: Registrasi lelang negara melalui Balai Lelang KPKNL Kementerian Keuangan.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7: Transaksi Penjualan: Penerimaan penawaran lelang tertinggi (*highest bid*) dari pembeli.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Tahap 8: Serah Terima &amp; Risalah Lelang: Penerbitan Akta Risalah Lelang, serah terima aset, dan pelunasan sisa kredit.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 9: Omnichannel Messaging Gateway &amp; Smart Auto-Dialer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Orkestrasi saluran komunikasi otomatis (WhatsApp Cloud API, Smart IVR Robo-Call, dan Desk Telephony)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19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WhatsApp Cloud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Pengingat Otomatis Berbiaya Efisien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Integrasi langsung ke Meta WhatsApp Cloud API dan penyedia gateway resmi (Fonnte).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Template Tagihan Dinamis: Menyisipkan nama debitur, no kontrak, jumlah tagihan, dan batas waktu bayar.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Tautan Bayar Mandiri (Payment Link): Tombol bayar instan Virtual Account / QRIS langsung di dalam chat WA.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Fallback URL Otomatis: Jika koneksi gateway API bermasalah, sistem otomatis menyediakan link fallback browser.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Efisiensi Biaya: Mengurangi biaya operasional komunikasi hingga 95% dibandingkan SMS konvensional.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Smart IVR Robo-Call Dialer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Panggilan Suara Interaktif Otomatis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Sistem panggilan suara robotik terotomasi (*Automated Voice Dialing*) terhubung ke jalur PSTN/SIP Trunk.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Menghubungi debitur tertunggak pada Bucket awal (DPD 1-7) dengan pesan suara personal berbahasa Indonesia.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Deteksi Jawaban Nasabah: Mendeteksi apakah panggilan diangkat, sibuk, mesin penjawab, atau tidak aktif.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Integrasi Respon Keypad (DTMF): Nasabah dapat menekan angka '1' untuk konfirmasi janji bayar atau '2' untuk berbicara dengan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47695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Centralized Desk Telephony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Panggilan Terpandu Kolektor Kantor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Antarmuka telepon terintegrasi pada portal web kolektor dengan pencatatan status kontak sekali klik (*one-click status*).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Skrip Percakapan Terpandu: Panduan skrip percakapan yang otomatis menyesuaikan profil debitur dan histori janji bayar.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Pencatatan Janji Bayar (PTP): Kolektor dapat menginput tanggal komitmen bayar dan nominal yang disepakati.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Audit Trail Rekaman: Waktu panggilan, durasi bicara, dan hasil interaksi tersimpan permanen di basis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MODUL EKSTERNAL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Arsitektur Integrasi Modul Eksternal &amp; Gateway Perbankan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Konektivitas enterprise dengan Core Banking, Payment Gateway, verifikasi identitas, dan lembaga yudisial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20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Core Banking System (LMS / CBS)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Integrasi Sistem Buku Besar Kredit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Protokol: Mutual TLS (mTLS) REST API &amp; File Batch SFTP Terenkripsi.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Nightly Ingestion: Sinkronisasi data master rekening kredit, baki debet, dan tunggakan pokok/bunga setiap pukul 02:00 WIB.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Real-Time Balance Check: Kueri saldo tabungan nasabah untuk evaluasi autodebet modul PDM DPD 0.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Financial Settlement Posting: Pengiriman jurnal akuntansi pembukuan pelunasan dan penghapusbukuan denda.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Payment Gateway &amp; Switching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Kanal Setoran Mandiri 24 Jam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BI-FAST Network: Menerima setoran transfer real-time antarbank dengan tarif hemat Rp 2.500.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Virtual Account (VA) Bank: Penomoran VA unik berbasis nomor kontrak pinjaman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Dynamic QRIS API: Pembuatan kode QRIS dinamis bernominal tagihan pasti pada chat WhatsApp atau mCollect.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Instant Webhook Event: Setiap pembayaran sukses seketika mengirim sinyal notifikasi ke endpoint `/confins/simulate-payment`.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Verifikasi Kependudukan &amp; Agunan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Validasi Legalitas &amp; Mitigasi Fraud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Dukcapil API: Verifikasi keabsahan data NIK KTP, tanggal lahir, dan nama ibu kandung debitur.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ATR/BPN API: Pengecekan sertifikat hak tanggungan elektronik (HT-el) dan keabsahan sertifikat tanah SHM/SHGB.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SLIK OJK: Pengecekan riwayat kolektibilitas kredit debitur pada lembaga keuangan lain di Indonesia.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Lembaga Lelang &amp; Penilai Independen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Eksekusi Aset &amp; Valuasi Standar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Balai Lelang Negara KPKNL: Pendaftaran lelang eksekusi hak tanggungan dan lelang fidusia secara resmi.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Kantor Jasa Penilai Publik (KJPP): Penilaian Nilai Pasar Wajar (FMV) dan Nilai Likuidasi independen terdaftar OJK.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Kantor Pengacara &amp; Notaris Rekanan: Penyusunan somasi hukum dan pembuatan akta risalah penyelesaian.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OTOMASI PENAGIHAN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Instant Payment Takeout Task &amp; Anti-Overcollection Architecture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Pencabutan otomatis penugasan kolektor dalam &lt;5 menit guna mencegah penagihan berulang yang memalukan nasabah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21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11D48"/>
                </a:solidFill>
              </a:defRPr>
            </a:pPr>
            <a:r>
              <a:t>MASALAH OPERASIONAL KLASIK: PENAGIHAN KEPADA NASABAH YANG SUDAH MEMBAYAR (OVERCOLLECTION)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Pada sistem konvensional, pembayaran nasabah via ATM/M-Banking baru disinkronkan saat proses batch malam (EOD). Akibatnya, kolektor lapangan tetap mendatangi nasabah yang sudah bayar di siang hari, memicu komplain keras dan risiko sanksi perlindungan konsumen OJK.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25786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230428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LANGKAH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230428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Transaksi Pembayaran Masuk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Nasabah melakukan pembayaran cicilan via Virtual Account, BI-FAST, QRIS, atau mCollect.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Payment Gateway seketika memvalidasi setoran dana berhasil.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834640"/>
            <a:ext cx="25786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2971800"/>
            <a:ext cx="230428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LANGKAH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337560"/>
            <a:ext cx="230428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Instant Webhook Event Trigger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Switching payment langsung mengirim HTTP Webhook event ke endpoint CRMS `/confins/simulate-payment`.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Tanpa menunggu proses batch EOD malam hari.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834640"/>
            <a:ext cx="25786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2971800"/>
            <a:ext cx="230428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LANGKAH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337560"/>
            <a:ext cx="230428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Auto-Clearance &amp; Takeout Task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Engine CRMS seketika mengosongkan saldo tunggakan (`Overdue Amount = Rp 0`).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Mencabut akun dari antrean penugasan kolektor lapangan (&lt; 5 Menit).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Membatalkan jadwal broadcast pesan bot WhatsApp.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2834640"/>
            <a:ext cx="257860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2971800"/>
            <a:ext cx="2304288" cy="2743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LANGKAH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3337560"/>
            <a:ext cx="230428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Kuitansi Sah &amp; Penutupan Akun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Mengirimkan bukti pembayaran digital resmi (PIS) via WhatsApp ke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Mengupdate status akun di Customer 360 menjadi `PAID` / `CLOSED`.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KEAMANAN &amp; KEPATUHAN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Keamanan Sistem, Audit Trail &amp; Kepatuhan UU PDP No. 27/2022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Standar perlindungan data pribadi perbankan, enkripsi end-to-end, dan pemenuhan POJK Manajemen Risiko 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22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Perlindungan Data Pribadi (UU PDP)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Kepatuhan ketat terhadap UU PDP No. 27/2022 tentang Perlindungan Data Pribadi nasabah.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Masking NIK KTP Otomatis: NIK ditampilkan dalam format tersamar (`317203******0004`) pada antarmuka umum.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Masking Kontak: Nomor telepon disamarkan pada tampilan non-PIC guna mencegah penyalahgunaan data.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Prinsip Need-to-Know: Akses pembukaan data mentah dibatasi dan mencatat log permintaan (*data access audit*).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Pemisahan wewenang yang tegas berbasis peran pada level API middleware: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`ADMIN`: Konfigurasi sistem, global parameter, dan simulasi batch EOD.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`AR_HEAD`: Penanganan portofolio VIP, somasi, dan persetujuan diskon settlement.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`COLLECTOR`: Akses antrean kerja akun yang ditugaskan dan pencatatan hasil negosiasi.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  - `SUPERVISOR`: Monitoring kapasitas kerja kolektor dan onboarding agensi eksternal.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Immutable Audit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Setiap transaksi, aktivitas penagihan, login pengguna, dan kueri data tersimpan dalam log audit.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Tamper-Proof: Log audit tidak dapat diubah maupun dihapus (*append-only ledger*).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Mencatat IP Address pengguna, User Agent peramban, stempel waktu server presisi milidetik, dan payload request.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Memenuhi ketentuan POJK No. 11/POJK.03/2016 untuk kesiapan audit kepatuhan OJK dan KAP.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Enkripsi Data Bank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50">
                <a:solidFill>
                  <a:srgbClr val="475569"/>
                </a:solidFill>
              </a:defRPr>
            </a:pPr>
            <a:r>
              <a:t>• Enkripsi In-Transit: Seluruh transmisi data dienkripsi menggunakan protokol aman TLS 1.3 / HTTPS port 3030.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Enkripsi At-Rest: Penyimpanan basis data PostgreSQL terlindungi dengan enkripsi volume data.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Hashing Kredensial: Password akun pengguna di-hash menggunakan algoritma Bcrypt dengan cost factor tinggi.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Isolasi Port: Backend port 8030 diisolasi dalam localhost dan hanya dapat diakses melalui reverse proxy Nginx.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EVALUASI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Matriks Evaluasi Komprehensif: Sebelum vs Sesudah Implementasi CRMS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Perbandingan 9 dimensi operasional penagihan dan dampak terukur terhadap pemulihan aset perbankan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</a:defRPr>
            </a:pPr>
            <a:r>
              <a:t>Slide 23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37744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DIMENSI PENAGIHAN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783080"/>
            <a:ext cx="310896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SEBELUM IMPLEMENTASI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347472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SESUDAH MENGGUNAKAN CRMS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783080"/>
            <a:ext cx="1767535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DAMPAK BISNIS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94560"/>
            <a:ext cx="106372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3113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1. Deteksi Keterlambatan     | Reaktif pasif setelah jatuh tempo (DPD 1+). | Proaktif preventif pada DPD 0 (H-3..H-0) memantau saldo CASA &amp; Tukin. | +25% Pelunasan Awal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633472"/>
            <a:ext cx="10637215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004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2. Segmentasi &amp; Scoring      | Pengelompokan statis flat berdasarkan hari DPD. | Decision Scoring multi-faktor (0-1000) &amp; Action Path 1-8 dinamis. | Optimalisasi Kanal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072384"/>
            <a:ext cx="106372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0896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3. Visibilitas Nasabah       | Data terpisah per produk pinjaman (data silo). | Unified Customer 360° lintas portofolio (KPR, KMK, KTA, CC) &amp; agunan. | Cross-Collateral Leverage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11296"/>
            <a:ext cx="10637215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4. Saluran Penagihan         | Dominan telepon manual &amp; surat kertas pos. | Omnichannel otomatis: WhatsApp Bot Blaster &amp; Smart IVR Robo-Call. | -40% Biaya Operasional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106372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86784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5. Penagihan Lapangan        | Kuitansi kertas rawan manipulasi &amp; hilang. | mCollect PWA Mobile &amp; Kuitansi Digital Resmi (PIS) ber-GPS. | Zero Fraud Setoran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89120"/>
            <a:ext cx="10637215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2569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6. Pengawasan Kolektor       | Laporan manual harian berbasis kertas. | GeoTracker Live Map DKI Jakarta &amp; deteksi anomali idle &gt;120 menit. | Transparansi 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28031"/>
            <a:ext cx="106372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64607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7. Program Kompromi          | Negosiasi lisan tidak terstandarisasi. | Settlement 6-Stage terstruktur, Multi-Tranches &amp; Rule 78 Calculator. | Tertib Administrasi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66944"/>
            <a:ext cx="10637215" cy="4023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035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8. Penanganan Hukum          | Berkas perkara litigasi tercecer manual. | Alur terpadu 6-Stage Legal Recourse &amp; 8-Stage Lelang Agunan KPKNL. | Kepastian Eksekusi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705855"/>
            <a:ext cx="106372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742431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9. Pembayaran Masuk          | Rekonsiliasi batch malam hari (EOD harian). | Instant Takeout Task &lt;5 menit via Webhook real-time BI-FAST / VA. | Zero Overcollection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SPESIFIKASI PRODUKSI &amp;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Tech Stack, Deployment VPS Linux &amp; Lembar Persetujuan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Platform siap produksi (*production-ready*) dengan performa tinggi, stabilitas teruji, dan siap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CRMS Enterprise Banking Platform • Bank DKI / Bank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473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CONFIDENTIAL • CREDIT RISK &amp; RECOVERY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64739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E0F2FE"/>
                </a:solidFill>
              </a:defRPr>
            </a:pPr>
            <a:r>
              <a:t>Slide 24 of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578608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2304288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BACKEND API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3042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Golang 1.24+ / Gin &amp; GORM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Port Layanan: `8030` (Internal HTTP)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Systemd Daemon: `crms-backend.service`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Multi-Threaded Concurrency &amp; GORM ORM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35+ Endpoint REST API Enterprise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78608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828800"/>
            <a:ext cx="2304288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E0F2FE"/>
                </a:solidFill>
              </a:defRPr>
            </a:pPr>
            <a:r>
              <a:t>FRONTEND WEB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3042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React 18.3 / Vite &amp; Tailwind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Single Page Application (SPA) responsif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Lucide React Icons &amp; Vector Maps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mCollect PWA Mobile Workbench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Customer 360 &amp; Matrix Action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91640"/>
            <a:ext cx="2578608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304288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WEB SERVER &amp; REVERSE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40280"/>
            <a:ext cx="23042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Nginx SSL Port 3030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Terminasi SSL/TLS 1.3 Let's Encrypt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Reverse Proxy ke internal port 8030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Kompresi aset Gzip &amp; HTTP Security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WSS WebSocket Live Map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91640"/>
            <a:ext cx="2578608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1828800"/>
            <a:ext cx="2304288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DATABASE RDBMS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240280"/>
            <a:ext cx="23042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PostgreSQL 14+ / 18+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Nama Basis Data: `crms_db`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Connection Pool: MaxOpen 50, MaxIdle 10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18 Entitas Relasional Ternormalisasi (3NF)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• Indeks B-Tree Berkecepatan Tinggi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107286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LEMBAR PERSETUJUAN &amp; STATUS KESIAPAN GO-LIVE PERBANKAN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Sistem CRMS telah melewati serangkaian pengujian integrasi end-to-end pada server VPS Bank DKI / Bank Jakarta dengan status SIAP PRODUKSI (PRODUCTION-READY). Seluruh modul inti telah memenuhi standar operasional penagihan dan kepatuhan perbankan nasional.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Disusun Oleh: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Credit Risk &amp; IT Architecture Team</a:t>
            </a:r>
          </a:p>
          <a:p>
            <a:pPr>
              <a:defRPr sz="850">
                <a:solidFill>
                  <a:srgbClr val="E0F2FE"/>
                </a:solidFill>
              </a:defRPr>
            </a:pPr>
            <a:r>
              <a:t>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20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Diverifikasi Oleh: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AR Head &amp; Credit Recovery Lead</a:t>
            </a:r>
          </a:p>
          <a:p>
            <a:pPr>
              <a:defRPr sz="850">
                <a:solidFill>
                  <a:srgbClr val="E0F2FE"/>
                </a:solidFill>
              </a:defRPr>
            </a:pPr>
            <a:r>
              <a:t>September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120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Disetujui Oleh: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Direktur Teknologi Informasi &amp; Manajemen Risiko</a:t>
            </a:r>
          </a:p>
          <a:p>
            <a:pPr>
              <a:defRPr sz="850">
                <a:solidFill>
                  <a:srgbClr val="E0F2FE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